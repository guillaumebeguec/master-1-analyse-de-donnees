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63" r:id="rId5"/>
    <p:sldId id="264" r:id="rId6"/>
    <p:sldId id="265" r:id="rId7"/>
    <p:sldId id="266" r:id="rId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Style moyen 2 - Accentuation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9631B5-78F2-41C9-869B-9F39066F8104}" styleName="Style moyen 3 - Accentuation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C4B1156A-380E-4F78-BDF5-A606A8083BF9}" styleName="Style moyen 4 - Accentuation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91EBBBCC-DAD2-459C-BE2E-F6DE35CF9A28}" styleName="Style foncé 2 - Accentuation 3/Accentuation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7E9639D4-E3E2-4D34-9284-5A2195B3D0D7}" styleName="Style clair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1E171933-4619-4E11-9A3F-F7608DF75F80}" styleName="Style moyen 1 - Accentuation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153"/>
    <p:restoredTop sz="91483"/>
  </p:normalViewPr>
  <p:slideViewPr>
    <p:cSldViewPr snapToGrid="0">
      <p:cViewPr>
        <p:scale>
          <a:sx n="127" d="100"/>
          <a:sy n="127" d="100"/>
        </p:scale>
        <p:origin x="1776" y="10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7A96E9-E8F2-6764-EBFF-9A82085061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B19FBD2-E2E5-F614-B181-9CDA573C9C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91509AD-A902-93BD-73CE-96371D3C0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F002B-4647-D148-925C-DACD8FB84438}" type="datetimeFigureOut">
              <a:rPr lang="fr-FR" smtClean="0"/>
              <a:t>20/11/2025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02350F0-1F13-20C2-5A2A-AF5E79A5F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DC1F2B3-4C75-FBE7-F704-3C033630A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A2C59-2C25-BB4D-A3AD-F762D636430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55064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8186D98-687F-9A08-6909-9C41A276A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86F085F-57C2-6850-C575-FF94B34553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67CFCC0-A278-7CCB-5635-303C1009E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F002B-4647-D148-925C-DACD8FB84438}" type="datetimeFigureOut">
              <a:rPr lang="fr-FR" smtClean="0"/>
              <a:t>20/11/2025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251BF76-6850-5812-AE7C-6C6AF49E0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94D23C8-316B-5B71-F696-15A99819A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A2C59-2C25-BB4D-A3AD-F762D636430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333626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FB02FD5-DF23-6597-51FE-260A4BCFB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8E9F351-7430-7714-9285-A9B5060AAE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F66CEA1-ECB9-B4DE-7B42-66122002C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F002B-4647-D148-925C-DACD8FB84438}" type="datetimeFigureOut">
              <a:rPr lang="fr-FR" smtClean="0"/>
              <a:t>20/11/2025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67EDF4A-D71C-47BC-7AB2-420FADF34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9CC79FD-C73A-D1C5-2743-603C24747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A2C59-2C25-BB4D-A3AD-F762D636430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26803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79E2E2B-A278-EEC1-25BF-3F67DDFD9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FAB6D72-669E-4C12-7374-2520CBF583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B17CF72-7D18-BA22-7CC1-E62EFFEED3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5D00265-1BB0-85DF-C7A1-4B92CEDF5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F002B-4647-D148-925C-DACD8FB84438}" type="datetimeFigureOut">
              <a:rPr lang="fr-FR" smtClean="0"/>
              <a:t>20/11/2025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55E4D81-1426-7DF4-6FEE-F5DFDBA43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962DEFC-2E45-377B-0A0D-0D279445A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A2C59-2C25-BB4D-A3AD-F762D636430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78249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D9104F8-A6CC-A8AE-C1BC-6E9A20935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8B823E7-2911-2EA1-2995-700AC89D36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428C326-4813-8BDF-9DF5-4487A2F8D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AB5895AF-3F1A-8AB2-E0A9-9E4327A187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4C4DB325-F55E-5445-46FC-B97FF39223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D85E78CA-9462-9537-06F4-C910F0A34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F002B-4647-D148-925C-DACD8FB84438}" type="datetimeFigureOut">
              <a:rPr lang="fr-FR" smtClean="0"/>
              <a:t>20/11/2025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84F49E00-3668-DBA6-3D8B-55CB895EA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FEFDEE61-9B9F-8426-76A4-0B67687E3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A2C59-2C25-BB4D-A3AD-F762D636430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371416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BC69980-348B-2766-4E5E-7EB29E9D7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8D274E5-D832-9146-2D9C-3A8ED392D3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F002B-4647-D148-925C-DACD8FB84438}" type="datetimeFigureOut">
              <a:rPr lang="fr-FR" smtClean="0"/>
              <a:t>20/11/2025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8F69E2D-0650-9195-6299-540D01549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4A5E513-78EF-5C05-F679-4D6E5CCD9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A2C59-2C25-BB4D-A3AD-F762D636430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997202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FA65ED94-63A5-F081-D6D3-3484D638C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F002B-4647-D148-925C-DACD8FB84438}" type="datetimeFigureOut">
              <a:rPr lang="fr-FR" smtClean="0"/>
              <a:t>20/11/2025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C239DCC-B425-C5C6-A4F9-1B1ED75FB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61E86AC-3FC8-BF72-F832-A4F645AD4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A2C59-2C25-BB4D-A3AD-F762D636430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402720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1E6DF15-B64C-C1F6-B2C3-BBB6A543F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A5F3D40-9E17-8BC9-8158-4FF8897695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F70CDD5-1CE2-F7D4-7B10-FB7048033C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E6269DC-7AA2-3E90-5291-B98FA2DDF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F002B-4647-D148-925C-DACD8FB84438}" type="datetimeFigureOut">
              <a:rPr lang="fr-FR" smtClean="0"/>
              <a:t>20/11/2025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67F8693-639F-DA97-89BF-AF7C1B90D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B068F9C-6C03-BAF1-A097-861F85FA8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A2C59-2C25-BB4D-A3AD-F762D636430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528488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35FD8D5-644A-CA45-7E95-FEF8596B0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91A8D1C0-2592-7DA5-1D59-99EB71DF81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90830B2-D3CC-0653-11AC-68F7F03884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9096AA7-E937-FD0D-9AD0-3436E79C1B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F002B-4647-D148-925C-DACD8FB84438}" type="datetimeFigureOut">
              <a:rPr lang="fr-FR" smtClean="0"/>
              <a:t>20/11/2025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6671E40-BAE0-06C9-22E8-918AD82F6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5ED34CB-DEBF-1C80-7AFB-C25BAE0B2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A2C59-2C25-BB4D-A3AD-F762D636430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852537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86D47E5-8253-D0DB-82A4-762AEF0CE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2C5CE87-5F68-1DE4-178E-14936829C2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4157ABB-6DAA-0F59-6C42-F467F3E62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F002B-4647-D148-925C-DACD8FB84438}" type="datetimeFigureOut">
              <a:rPr lang="fr-FR" smtClean="0"/>
              <a:t>20/11/2025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BCFE0F2-789D-6A3F-8F3F-0497DDDB1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ED27E86-0DE3-6CE4-FB06-2881A163D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A2C59-2C25-BB4D-A3AD-F762D636430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842370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E182E08F-D394-3DBE-F680-7B12DD7F4A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990662E-C163-1E8A-9964-8E230E2079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27A5687-E05B-0541-F59F-AAB69AA44B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F002B-4647-D148-925C-DACD8FB84438}" type="datetimeFigureOut">
              <a:rPr lang="fr-FR" smtClean="0"/>
              <a:t>20/11/2025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9C69A37-506D-7B23-7C41-9144C4444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31B081A-3A20-7B76-5443-D2C2222DB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A2C59-2C25-BB4D-A3AD-F762D636430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731540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725F2A19-5488-43FA-5067-428410729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7CCAD01-A7E2-794B-FF55-21CF794780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0345DE2-BF6D-CAD6-8671-2073568721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5F002B-4647-D148-925C-DACD8FB84438}" type="datetimeFigureOut">
              <a:rPr lang="fr-FR" smtClean="0"/>
              <a:t>20/11/2025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1E6ADA0-0968-4D14-1116-346F7EC81F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28B5621-2316-E65E-2224-22E14DAED6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6A2C59-2C25-BB4D-A3AD-F762D636430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77827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3" descr="Conception abstraite de pétales de fleurs en pastel">
            <a:extLst>
              <a:ext uri="{FF2B5EF4-FFF2-40B4-BE49-F238E27FC236}">
                <a16:creationId xmlns:a16="http://schemas.microsoft.com/office/drawing/2014/main" id="{7E7D1214-9AEF-7E4C-F5FE-938F4737F62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851" r="11201" b="2"/>
          <a:stretch/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56C9CB44-DB53-DCCD-BD8D-3F5ADA171BF5}"/>
              </a:ext>
            </a:extLst>
          </p:cNvPr>
          <p:cNvSpPr txBox="1"/>
          <p:nvPr/>
        </p:nvSpPr>
        <p:spPr>
          <a:xfrm>
            <a:off x="721746" y="3028890"/>
            <a:ext cx="15048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>
                <a:latin typeface="Walbaum Display" panose="02070503090703020303" pitchFamily="18" charset="0"/>
              </a:rPr>
              <a:t>Gwenlake</a:t>
            </a:r>
            <a:endParaRPr lang="fr-FR" sz="2400" dirty="0">
              <a:latin typeface="Walbaum Display" panose="02070503090703020303" pitchFamily="18" charset="0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4B62924-078C-6194-1BF2-CA3580C14D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1746" y="1780964"/>
            <a:ext cx="11014938" cy="998279"/>
          </a:xfrm>
        </p:spPr>
        <p:txBody>
          <a:bodyPr>
            <a:normAutofit/>
          </a:bodyPr>
          <a:lstStyle/>
          <a:p>
            <a:pPr algn="l"/>
            <a:r>
              <a:rPr lang="fr-FR" sz="6000" dirty="0"/>
              <a:t>Analyse de données</a:t>
            </a:r>
            <a:endParaRPr lang="fr-FR" sz="4400" dirty="0"/>
          </a:p>
        </p:txBody>
      </p:sp>
    </p:spTree>
    <p:extLst>
      <p:ext uri="{BB962C8B-B14F-4D97-AF65-F5344CB8AC3E}">
        <p14:creationId xmlns:p14="http://schemas.microsoft.com/office/powerpoint/2010/main" val="32547074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660A0747-87CB-CE13-7E7E-4C685ECE25D1}"/>
              </a:ext>
            </a:extLst>
          </p:cNvPr>
          <p:cNvSpPr/>
          <p:nvPr/>
        </p:nvSpPr>
        <p:spPr>
          <a:xfrm>
            <a:off x="317500" y="342900"/>
            <a:ext cx="11557000" cy="762000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EDDF4DEE-3B39-1177-F56D-C12141B84018}"/>
              </a:ext>
            </a:extLst>
          </p:cNvPr>
          <p:cNvSpPr txBox="1"/>
          <p:nvPr/>
        </p:nvSpPr>
        <p:spPr>
          <a:xfrm>
            <a:off x="609600" y="462290"/>
            <a:ext cx="3505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</a:rPr>
              <a:t>Présentation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93D6519D-0D87-FF63-9BDF-F29E32B88C59}"/>
              </a:ext>
            </a:extLst>
          </p:cNvPr>
          <p:cNvSpPr txBox="1"/>
          <p:nvPr/>
        </p:nvSpPr>
        <p:spPr>
          <a:xfrm>
            <a:off x="609600" y="2168163"/>
            <a:ext cx="11264900" cy="1477328"/>
          </a:xfrm>
          <a:prstGeom prst="rect">
            <a:avLst/>
          </a:prstGeom>
          <a:noFill/>
          <a:ln w="3175"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Introduction et présentation de l’Analyse en Composantes Multiples (ACM).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Points clés mathématiques et liens avec l’ACP.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Choix du nombre d’axes principaux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Interprétations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D1C421B-11BC-CA30-8D6F-F5EE79695CDC}"/>
              </a:ext>
            </a:extLst>
          </p:cNvPr>
          <p:cNvSpPr/>
          <p:nvPr/>
        </p:nvSpPr>
        <p:spPr>
          <a:xfrm>
            <a:off x="317500" y="1568118"/>
            <a:ext cx="45719" cy="204536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A0669E2-4A81-6A27-9687-65D437BC95FB}"/>
              </a:ext>
            </a:extLst>
          </p:cNvPr>
          <p:cNvSpPr/>
          <p:nvPr/>
        </p:nvSpPr>
        <p:spPr>
          <a:xfrm>
            <a:off x="363219" y="1568118"/>
            <a:ext cx="11511281" cy="482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E4581E3B-C78E-E237-B942-FBC198310B0F}"/>
              </a:ext>
            </a:extLst>
          </p:cNvPr>
          <p:cNvSpPr txBox="1"/>
          <p:nvPr/>
        </p:nvSpPr>
        <p:spPr>
          <a:xfrm>
            <a:off x="609600" y="1609363"/>
            <a:ext cx="57556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/>
              <a:t>Objectifs du cours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B7CAB9A-1A1E-71A4-9CCA-E625EA1C33EF}"/>
              </a:ext>
            </a:extLst>
          </p:cNvPr>
          <p:cNvSpPr/>
          <p:nvPr/>
        </p:nvSpPr>
        <p:spPr>
          <a:xfrm>
            <a:off x="317500" y="1568119"/>
            <a:ext cx="11557000" cy="2045364"/>
          </a:xfrm>
          <a:prstGeom prst="rect">
            <a:avLst/>
          </a:prstGeom>
          <a:noFill/>
          <a:ln w="31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368904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E80BF0-8A9F-C630-B266-02CC6AD91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ADDD0FE7-D8CD-DFEC-2512-EC1BDF82A936}"/>
              </a:ext>
            </a:extLst>
          </p:cNvPr>
          <p:cNvSpPr/>
          <p:nvPr/>
        </p:nvSpPr>
        <p:spPr>
          <a:xfrm>
            <a:off x="317500" y="342900"/>
            <a:ext cx="11557000" cy="762000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EB3FF3B8-F9E9-AA15-F789-CB4EBC542AC7}"/>
              </a:ext>
            </a:extLst>
          </p:cNvPr>
          <p:cNvSpPr txBox="1"/>
          <p:nvPr/>
        </p:nvSpPr>
        <p:spPr>
          <a:xfrm>
            <a:off x="609600" y="462290"/>
            <a:ext cx="71133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</a:rPr>
              <a:t>Analyse en Composantes Multiples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7890A717-255A-48C3-D096-0C09EC8E69FE}"/>
              </a:ext>
            </a:extLst>
          </p:cNvPr>
          <p:cNvSpPr txBox="1"/>
          <p:nvPr/>
        </p:nvSpPr>
        <p:spPr>
          <a:xfrm>
            <a:off x="609599" y="1425545"/>
            <a:ext cx="11419841" cy="3477875"/>
          </a:xfrm>
          <a:prstGeom prst="rect">
            <a:avLst/>
          </a:prstGeom>
          <a:noFill/>
          <a:ln w="3175">
            <a:noFill/>
          </a:ln>
        </p:spPr>
        <p:txBody>
          <a:bodyPr wrap="square" rtlCol="0">
            <a:spAutoFit/>
          </a:bodyPr>
          <a:lstStyle/>
          <a:p>
            <a:endParaRPr lang="fr-FR" sz="2000" dirty="0"/>
          </a:p>
          <a:p>
            <a:endParaRPr lang="fr-FR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L'ACM est une méthode factorielle adaptée aux tableaux </a:t>
            </a:r>
            <a:r>
              <a:rPr lang="fr-FR" b="1" dirty="0"/>
              <a:t>Individus x Variables Qualitatives</a:t>
            </a:r>
            <a:r>
              <a:rPr lang="fr-FR" dirty="0"/>
              <a:t>. Son but est de résumer l'information et visualiser les associations.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/>
              <a:t>La Transformation Clé :</a:t>
            </a:r>
            <a:r>
              <a:rPr lang="fr-FR" dirty="0"/>
              <a:t> On ne peut pas calculer de moyenne sur "Bleu" ou "Rouge". On transforme donc le tableau brut en </a:t>
            </a:r>
            <a:r>
              <a:rPr lang="fr-FR" b="1" dirty="0"/>
              <a:t>Tableau Disjonctif Complet 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/>
              <a:t>Tableau Disjonctif Complet : </a:t>
            </a:r>
            <a:r>
              <a:rPr lang="fr-FR" dirty="0"/>
              <a:t>Codage binaire (0 ou 1). Si une variable a k modalités, elle génère k colonnes. Réduire la dimensionnalité : Passer d'un grand nombre de variables à quelques composantes clés pour simplifier l'analyse.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L'ACP cherche les facteurs qui font varier les chiffres, l’ACM cherche à détecter les "Patterns" (Associations) : Son but premier est de révéler quelles modalités vont ensemble.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Les variables qualitatives sont résumées en valeurs numériques.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F6F7A2-C06C-71FB-0514-4DE81E471F30}"/>
              </a:ext>
            </a:extLst>
          </p:cNvPr>
          <p:cNvSpPr/>
          <p:nvPr/>
        </p:nvSpPr>
        <p:spPr>
          <a:xfrm>
            <a:off x="317500" y="1425544"/>
            <a:ext cx="45719" cy="352431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303C870-F73B-AFD1-413C-A43CDC839FDF}"/>
              </a:ext>
            </a:extLst>
          </p:cNvPr>
          <p:cNvSpPr/>
          <p:nvPr/>
        </p:nvSpPr>
        <p:spPr>
          <a:xfrm>
            <a:off x="363219" y="1425545"/>
            <a:ext cx="11511281" cy="4826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89CA14FE-8745-FD10-3703-3F14E3746AB5}"/>
              </a:ext>
            </a:extLst>
          </p:cNvPr>
          <p:cNvSpPr txBox="1"/>
          <p:nvPr/>
        </p:nvSpPr>
        <p:spPr>
          <a:xfrm>
            <a:off x="609600" y="1466790"/>
            <a:ext cx="57556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/>
              <a:t> Introduction &amp; Structure des Données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E77C4F6-9E65-D4FD-2AD9-9E1EC953DB57}"/>
              </a:ext>
            </a:extLst>
          </p:cNvPr>
          <p:cNvSpPr/>
          <p:nvPr/>
        </p:nvSpPr>
        <p:spPr>
          <a:xfrm>
            <a:off x="317500" y="1425546"/>
            <a:ext cx="11557000" cy="3524310"/>
          </a:xfrm>
          <a:prstGeom prst="rect">
            <a:avLst/>
          </a:prstGeom>
          <a:noFill/>
          <a:ln w="31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graphicFrame>
        <p:nvGraphicFramePr>
          <p:cNvPr id="7" name="Tableau 6">
            <a:extLst>
              <a:ext uri="{FF2B5EF4-FFF2-40B4-BE49-F238E27FC236}">
                <a16:creationId xmlns:a16="http://schemas.microsoft.com/office/drawing/2014/main" id="{F228A39A-B33D-22CD-8903-5FE94D1020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564969"/>
              </p:ext>
            </p:extLst>
          </p:nvPr>
        </p:nvGraphicFramePr>
        <p:xfrm>
          <a:off x="307339" y="5438117"/>
          <a:ext cx="3180081" cy="986157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060027">
                  <a:extLst>
                    <a:ext uri="{9D8B030D-6E8A-4147-A177-3AD203B41FA5}">
                      <a16:colId xmlns:a16="http://schemas.microsoft.com/office/drawing/2014/main" val="4112391628"/>
                    </a:ext>
                  </a:extLst>
                </a:gridCol>
                <a:gridCol w="1060027">
                  <a:extLst>
                    <a:ext uri="{9D8B030D-6E8A-4147-A177-3AD203B41FA5}">
                      <a16:colId xmlns:a16="http://schemas.microsoft.com/office/drawing/2014/main" val="653473207"/>
                    </a:ext>
                  </a:extLst>
                </a:gridCol>
                <a:gridCol w="1060027">
                  <a:extLst>
                    <a:ext uri="{9D8B030D-6E8A-4147-A177-3AD203B41FA5}">
                      <a16:colId xmlns:a16="http://schemas.microsoft.com/office/drawing/2014/main" val="399180921"/>
                    </a:ext>
                  </a:extLst>
                </a:gridCol>
              </a:tblGrid>
              <a:tr h="328719">
                <a:tc>
                  <a:txBody>
                    <a:bodyPr/>
                    <a:lstStyle/>
                    <a:p>
                      <a:r>
                        <a:rPr lang="fr-FR" sz="1400" dirty="0"/>
                        <a:t>individu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pays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sport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0134903"/>
                  </a:ext>
                </a:extLst>
              </a:tr>
              <a:tr h="328719">
                <a:tc>
                  <a:txBody>
                    <a:bodyPr/>
                    <a:lstStyle/>
                    <a:p>
                      <a:r>
                        <a:rPr lang="fr-FR" sz="1400" dirty="0"/>
                        <a:t>Paul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France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Football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9147784"/>
                  </a:ext>
                </a:extLst>
              </a:tr>
              <a:tr h="328719">
                <a:tc>
                  <a:txBody>
                    <a:bodyPr/>
                    <a:lstStyle/>
                    <a:p>
                      <a:r>
                        <a:rPr lang="fr-FR" sz="1400" dirty="0"/>
                        <a:t>Marie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Angleterre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Athlétisme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9963242"/>
                  </a:ext>
                </a:extLst>
              </a:tr>
            </a:tbl>
          </a:graphicData>
        </a:graphic>
      </p:graphicFrame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DB34ACE1-C902-009C-CFAF-054365186C3E}"/>
              </a:ext>
            </a:extLst>
          </p:cNvPr>
          <p:cNvCxnSpPr/>
          <p:nvPr/>
        </p:nvCxnSpPr>
        <p:spPr>
          <a:xfrm>
            <a:off x="3657600" y="5965485"/>
            <a:ext cx="100584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au 9">
            <a:extLst>
              <a:ext uri="{FF2B5EF4-FFF2-40B4-BE49-F238E27FC236}">
                <a16:creationId xmlns:a16="http://schemas.microsoft.com/office/drawing/2014/main" id="{594F7A22-20AB-044D-77CB-4CE41DE777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2064398"/>
              </p:ext>
            </p:extLst>
          </p:nvPr>
        </p:nvGraphicFramePr>
        <p:xfrm>
          <a:off x="4833620" y="5432454"/>
          <a:ext cx="7195820" cy="986157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017055">
                  <a:extLst>
                    <a:ext uri="{9D8B030D-6E8A-4147-A177-3AD203B41FA5}">
                      <a16:colId xmlns:a16="http://schemas.microsoft.com/office/drawing/2014/main" val="4112391628"/>
                    </a:ext>
                  </a:extLst>
                </a:gridCol>
                <a:gridCol w="1475955">
                  <a:extLst>
                    <a:ext uri="{9D8B030D-6E8A-4147-A177-3AD203B41FA5}">
                      <a16:colId xmlns:a16="http://schemas.microsoft.com/office/drawing/2014/main" val="653473207"/>
                    </a:ext>
                  </a:extLst>
                </a:gridCol>
                <a:gridCol w="1824482">
                  <a:extLst>
                    <a:ext uri="{9D8B030D-6E8A-4147-A177-3AD203B41FA5}">
                      <a16:colId xmlns:a16="http://schemas.microsoft.com/office/drawing/2014/main" val="399180921"/>
                    </a:ext>
                  </a:extLst>
                </a:gridCol>
                <a:gridCol w="1439164">
                  <a:extLst>
                    <a:ext uri="{9D8B030D-6E8A-4147-A177-3AD203B41FA5}">
                      <a16:colId xmlns:a16="http://schemas.microsoft.com/office/drawing/2014/main" val="595053549"/>
                    </a:ext>
                  </a:extLst>
                </a:gridCol>
                <a:gridCol w="1439164">
                  <a:extLst>
                    <a:ext uri="{9D8B030D-6E8A-4147-A177-3AD203B41FA5}">
                      <a16:colId xmlns:a16="http://schemas.microsoft.com/office/drawing/2014/main" val="1513239390"/>
                    </a:ext>
                  </a:extLst>
                </a:gridCol>
              </a:tblGrid>
              <a:tr h="328719">
                <a:tc>
                  <a:txBody>
                    <a:bodyPr/>
                    <a:lstStyle/>
                    <a:p>
                      <a:r>
                        <a:rPr lang="fr-FR" sz="1400" dirty="0"/>
                        <a:t>individu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 err="1"/>
                        <a:t>pays_France</a:t>
                      </a:r>
                      <a:endParaRPr lang="fr-F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dirty="0" err="1"/>
                        <a:t>pays_Angleterre</a:t>
                      </a:r>
                      <a:endParaRPr lang="fr-F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 err="1"/>
                        <a:t>Sport_Football</a:t>
                      </a:r>
                      <a:endParaRPr lang="fr-F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 err="1"/>
                        <a:t>Sport_Athlé</a:t>
                      </a:r>
                      <a:endParaRPr lang="fr-F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0134903"/>
                  </a:ext>
                </a:extLst>
              </a:tr>
              <a:tr h="328719">
                <a:tc>
                  <a:txBody>
                    <a:bodyPr/>
                    <a:lstStyle/>
                    <a:p>
                      <a:r>
                        <a:rPr lang="fr-FR" sz="1400" dirty="0"/>
                        <a:t>Paul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9147784"/>
                  </a:ext>
                </a:extLst>
              </a:tr>
              <a:tr h="328719">
                <a:tc>
                  <a:txBody>
                    <a:bodyPr/>
                    <a:lstStyle/>
                    <a:p>
                      <a:r>
                        <a:rPr lang="fr-FR" sz="1400" dirty="0"/>
                        <a:t>Marie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99632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68817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DD9378-CEE3-145D-DB99-391D16CFE9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EEC25B45-43E4-D6C7-D9C4-372D98D9BC19}"/>
              </a:ext>
            </a:extLst>
          </p:cNvPr>
          <p:cNvSpPr/>
          <p:nvPr/>
        </p:nvSpPr>
        <p:spPr>
          <a:xfrm>
            <a:off x="376935" y="5187351"/>
            <a:ext cx="11511281" cy="4826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53A98B1-0C9E-AC07-98BC-B7AAC60D6EED}"/>
              </a:ext>
            </a:extLst>
          </p:cNvPr>
          <p:cNvSpPr/>
          <p:nvPr/>
        </p:nvSpPr>
        <p:spPr>
          <a:xfrm>
            <a:off x="331216" y="5187352"/>
            <a:ext cx="11557000" cy="1499142"/>
          </a:xfrm>
          <a:prstGeom prst="rect">
            <a:avLst/>
          </a:prstGeom>
          <a:noFill/>
          <a:ln w="31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C1E1E864-30D9-B802-C57D-4CF92809AF7E}"/>
              </a:ext>
            </a:extLst>
          </p:cNvPr>
          <p:cNvSpPr/>
          <p:nvPr/>
        </p:nvSpPr>
        <p:spPr>
          <a:xfrm>
            <a:off x="317500" y="342900"/>
            <a:ext cx="11557000" cy="762000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F07F39E2-858F-F156-C4ED-4224D5363FA3}"/>
              </a:ext>
            </a:extLst>
          </p:cNvPr>
          <p:cNvSpPr txBox="1"/>
          <p:nvPr/>
        </p:nvSpPr>
        <p:spPr>
          <a:xfrm>
            <a:off x="609600" y="462290"/>
            <a:ext cx="78409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</a:rPr>
              <a:t>Analyse en Composantes Multiples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ZoneTexte 1">
                <a:extLst>
                  <a:ext uri="{FF2B5EF4-FFF2-40B4-BE49-F238E27FC236}">
                    <a16:creationId xmlns:a16="http://schemas.microsoft.com/office/drawing/2014/main" id="{F501438B-558B-893A-9573-C9351682AB3D}"/>
                  </a:ext>
                </a:extLst>
              </p:cNvPr>
              <p:cNvSpPr txBox="1"/>
              <p:nvPr/>
            </p:nvSpPr>
            <p:spPr>
              <a:xfrm>
                <a:off x="609599" y="1425545"/>
                <a:ext cx="11125201" cy="3515193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square" rtlCol="0">
                <a:spAutoFit/>
              </a:bodyPr>
              <a:lstStyle/>
              <a:p>
                <a:endParaRPr lang="fr-FR" sz="2000" dirty="0"/>
              </a:p>
              <a:p>
                <a:endParaRPr lang="fr-FR" sz="20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fr-FR" dirty="0"/>
                  <a:t>En ACM, on utilise une nouvelle métrique qui remplace la distance euclidienne de l’ACP. Le principe est de mesurer en plus la rareté pour créer des liens.</a:t>
                </a:r>
                <a:endParaRPr lang="fr-FR" dirty="0">
                  <a:latin typeface="+mj-lt"/>
                  <a:ea typeface="CMU Classical Serif" panose="02000603000000000000" pitchFamily="2" charset="0"/>
                  <a:cs typeface="CMU Classical Serif" panose="02000603000000000000" pitchFamily="2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fr-FR" sz="20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fr-FR" sz="2000" dirty="0"/>
                  <a:t>distance</a:t>
                </a:r>
                <a:r>
                  <a:rPr lang="fr-FR" sz="2800" baseline="30000" dirty="0"/>
                  <a:t>2</a:t>
                </a:r>
                <a:r>
                  <a:rPr lang="fr-FR" sz="2800" dirty="0"/>
                  <a:t>(</a:t>
                </a:r>
                <a:r>
                  <a:rPr lang="fr-FR" sz="2800" dirty="0" err="1"/>
                  <a:t>i,l</a:t>
                </a:r>
                <a:r>
                  <a:rPr lang="fr-FR" sz="2800" dirty="0"/>
                  <a:t>) 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fr-FR" sz="28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  <m:brk m:alnAt="23"/>
                          </m:rPr>
                          <a:rPr lang="fr-FR" sz="2800" b="0" i="1" smtClean="0">
                            <a:latin typeface="Cambria Math" panose="02040503050406030204" pitchFamily="18" charset="0"/>
                          </a:rPr>
                          <m:t>k</m:t>
                        </m:r>
                        <m:r>
                          <a:rPr lang="fr-FR" sz="28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fr-FR" sz="2800" b="0" i="1" smtClean="0">
                            <a:latin typeface="Cambria Math" panose="02040503050406030204" pitchFamily="18" charset="0"/>
                          </a:rPr>
                          <m:t>K</m:t>
                        </m:r>
                      </m:sup>
                      <m:e>
                        <m:f>
                          <m:fPr>
                            <m:ctrlPr>
                              <a:rPr lang="fr-FR" sz="28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fr-FR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fr-FR" sz="2800" b="0" i="1" smtClean="0">
                                <a:latin typeface="Cambria Math" panose="02040503050406030204" pitchFamily="18" charset="0"/>
                              </a:rPr>
                              <m:t>p</m:t>
                            </m:r>
                            <m:r>
                              <m:rPr>
                                <m:sty m:val="p"/>
                              </m:rPr>
                              <a:rPr lang="fr-FR" sz="2800" b="0" i="1" baseline="-25000" smtClean="0">
                                <a:latin typeface="Cambria Math" panose="02040503050406030204" pitchFamily="18" charset="0"/>
                              </a:rPr>
                              <m:t>k</m:t>
                            </m:r>
                          </m:den>
                        </m:f>
                        <m:r>
                          <a:rPr lang="fr-FR" sz="28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nary>
                  </m:oMath>
                </a14:m>
                <a:r>
                  <a:rPr lang="fr-FR" sz="2400" dirty="0">
                    <a:latin typeface="CMU Classical Serif" panose="02000603000000000000" pitchFamily="2" charset="0"/>
                    <a:ea typeface="CMU Classical Serif" panose="02000603000000000000" pitchFamily="2" charset="0"/>
                    <a:cs typeface="CMU Classical Serif" panose="02000603000000000000" pitchFamily="2" charset="0"/>
                  </a:rPr>
                  <a:t>(</a:t>
                </a:r>
                <a:r>
                  <a:rPr lang="fr-FR" sz="2400" dirty="0" err="1">
                    <a:latin typeface="CMU Classical Serif" panose="02000603000000000000" pitchFamily="2" charset="0"/>
                    <a:ea typeface="CMU Classical Serif" panose="02000603000000000000" pitchFamily="2" charset="0"/>
                    <a:cs typeface="CMU Classical Serif" panose="02000603000000000000" pitchFamily="2" charset="0"/>
                  </a:rPr>
                  <a:t>x</a:t>
                </a:r>
                <a:r>
                  <a:rPr lang="fr-FR" sz="2400" baseline="-25000" dirty="0" err="1">
                    <a:latin typeface="CMU Classical Serif" panose="02000603000000000000" pitchFamily="2" charset="0"/>
                    <a:ea typeface="CMU Classical Serif" panose="02000603000000000000" pitchFamily="2" charset="0"/>
                    <a:cs typeface="CMU Classical Serif" panose="02000603000000000000" pitchFamily="2" charset="0"/>
                  </a:rPr>
                  <a:t>ik</a:t>
                </a:r>
                <a:r>
                  <a:rPr lang="fr-FR" sz="2400" dirty="0">
                    <a:latin typeface="CMU Classical Serif" panose="02000603000000000000" pitchFamily="2" charset="0"/>
                    <a:ea typeface="CMU Classical Serif" panose="02000603000000000000" pitchFamily="2" charset="0"/>
                    <a:cs typeface="CMU Classical Serif" panose="02000603000000000000" pitchFamily="2" charset="0"/>
                  </a:rPr>
                  <a:t> - </a:t>
                </a:r>
                <a:r>
                  <a:rPr lang="fr-FR" sz="2400" dirty="0" err="1">
                    <a:latin typeface="CMU Classical Serif" panose="02000603000000000000" pitchFamily="2" charset="0"/>
                    <a:ea typeface="CMU Classical Serif" panose="02000603000000000000" pitchFamily="2" charset="0"/>
                    <a:cs typeface="CMU Classical Serif" panose="02000603000000000000" pitchFamily="2" charset="0"/>
                  </a:rPr>
                  <a:t>x</a:t>
                </a:r>
                <a:r>
                  <a:rPr lang="fr-FR" sz="2400" baseline="-25000" dirty="0" err="1">
                    <a:latin typeface="CMU Classical Serif" panose="02000603000000000000" pitchFamily="2" charset="0"/>
                    <a:ea typeface="CMU Classical Serif" panose="02000603000000000000" pitchFamily="2" charset="0"/>
                    <a:cs typeface="CMU Classical Serif" panose="02000603000000000000" pitchFamily="2" charset="0"/>
                  </a:rPr>
                  <a:t>lk</a:t>
                </a:r>
                <a:r>
                  <a:rPr lang="fr-FR" sz="2400" dirty="0">
                    <a:latin typeface="CMU Classical Serif" panose="02000603000000000000" pitchFamily="2" charset="0"/>
                    <a:ea typeface="CMU Classical Serif" panose="02000603000000000000" pitchFamily="2" charset="0"/>
                    <a:cs typeface="CMU Classical Serif" panose="02000603000000000000" pitchFamily="2" charset="0"/>
                  </a:rPr>
                  <a:t>)</a:t>
                </a:r>
                <a:r>
                  <a:rPr lang="fr-FR" sz="2400" baseline="30000" dirty="0">
                    <a:latin typeface="CMU Classical Serif" panose="02000603000000000000" pitchFamily="2" charset="0"/>
                    <a:ea typeface="CMU Classical Serif" panose="02000603000000000000" pitchFamily="2" charset="0"/>
                    <a:cs typeface="CMU Classical Serif" panose="02000603000000000000" pitchFamily="2" charset="0"/>
                  </a:rPr>
                  <a:t>2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fr-FR" sz="2400" baseline="30000" dirty="0">
                  <a:latin typeface="CMU Classical Serif" panose="02000603000000000000" pitchFamily="2" charset="0"/>
                  <a:ea typeface="CMU Classical Serif" panose="02000603000000000000" pitchFamily="2" charset="0"/>
                  <a:cs typeface="CMU Classical Serif" panose="02000603000000000000" pitchFamily="2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fr-FR" dirty="0" err="1">
                    <a:latin typeface="CMU Classical Serif" panose="02000603000000000000" pitchFamily="2" charset="0"/>
                    <a:ea typeface="CMU Classical Serif" panose="02000603000000000000" pitchFamily="2" charset="0"/>
                    <a:cs typeface="CMU Classical Serif" panose="02000603000000000000" pitchFamily="2" charset="0"/>
                  </a:rPr>
                  <a:t>x</a:t>
                </a:r>
                <a:r>
                  <a:rPr lang="fr-FR" baseline="-25000" dirty="0" err="1">
                    <a:latin typeface="CMU Classical Serif" panose="02000603000000000000" pitchFamily="2" charset="0"/>
                    <a:ea typeface="CMU Classical Serif" panose="02000603000000000000" pitchFamily="2" charset="0"/>
                    <a:cs typeface="CMU Classical Serif" panose="02000603000000000000" pitchFamily="2" charset="0"/>
                  </a:rPr>
                  <a:t>ik</a:t>
                </a:r>
                <a:r>
                  <a:rPr lang="fr-FR" dirty="0">
                    <a:latin typeface="CMU Classical Serif" panose="02000603000000000000" pitchFamily="2" charset="0"/>
                    <a:ea typeface="CMU Classical Serif" panose="02000603000000000000" pitchFamily="2" charset="0"/>
                    <a:cs typeface="CMU Classical Serif" panose="02000603000000000000" pitchFamily="2" charset="0"/>
                  </a:rPr>
                  <a:t> ,</a:t>
                </a:r>
                <a:r>
                  <a:rPr lang="fr-FR" dirty="0" err="1">
                    <a:latin typeface="CMU Classical Serif" panose="02000603000000000000" pitchFamily="2" charset="0"/>
                    <a:ea typeface="CMU Classical Serif" panose="02000603000000000000" pitchFamily="2" charset="0"/>
                    <a:cs typeface="CMU Classical Serif" panose="02000603000000000000" pitchFamily="2" charset="0"/>
                  </a:rPr>
                  <a:t>x</a:t>
                </a:r>
                <a:r>
                  <a:rPr lang="fr-FR" baseline="-25000" dirty="0" err="1">
                    <a:latin typeface="CMU Classical Serif" panose="02000603000000000000" pitchFamily="2" charset="0"/>
                    <a:ea typeface="CMU Classical Serif" panose="02000603000000000000" pitchFamily="2" charset="0"/>
                    <a:cs typeface="CMU Classical Serif" panose="02000603000000000000" pitchFamily="2" charset="0"/>
                  </a:rPr>
                  <a:t>lk</a:t>
                </a:r>
                <a:r>
                  <a:rPr lang="fr-FR" baseline="-25000" dirty="0">
                    <a:latin typeface="CMU Classical Serif" panose="02000603000000000000" pitchFamily="2" charset="0"/>
                    <a:ea typeface="CMU Classical Serif" panose="02000603000000000000" pitchFamily="2" charset="0"/>
                    <a:cs typeface="CMU Classical Serif" panose="02000603000000000000" pitchFamily="2" charset="0"/>
                  </a:rPr>
                  <a:t> </a:t>
                </a:r>
                <a:r>
                  <a:rPr lang="fr-FR" dirty="0">
                    <a:ea typeface="CMU Classical Serif" panose="02000603000000000000" pitchFamily="2" charset="0"/>
                    <a:cs typeface="CMU Classical Serif" panose="02000603000000000000" pitchFamily="2" charset="0"/>
                  </a:rPr>
                  <a:t>: valent 1 ou 0 si l’individu à la modalité k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i="1" smtClean="0"/>
                      <m:t>P</m:t>
                    </m:r>
                    <m:r>
                      <m:rPr>
                        <m:sty m:val="p"/>
                      </m:rPr>
                      <a:rPr lang="fr-FR" i="1"/>
                      <m:t>k</m:t>
                    </m:r>
                  </m:oMath>
                </a14:m>
                <a:r>
                  <a:rPr lang="fr-FR" dirty="0">
                    <a:ea typeface="CMU Classical Serif" panose="02000603000000000000" pitchFamily="2" charset="0"/>
                    <a:cs typeface="CMU Classical Serif" panose="02000603000000000000" pitchFamily="2" charset="0"/>
                  </a:rPr>
                  <a:t>: Proportion de personnes avec la modalité k (rareté). Poids </a:t>
                </a:r>
                <a:r>
                  <a:rPr lang="fr-FR" dirty="0" err="1">
                    <a:ea typeface="CMU Classical Serif" panose="02000603000000000000" pitchFamily="2" charset="0"/>
                    <a:cs typeface="CMU Classical Serif" panose="02000603000000000000" pitchFamily="2" charset="0"/>
                  </a:rPr>
                  <a:t>elevé</a:t>
                </a:r>
                <a:r>
                  <a:rPr lang="fr-FR" dirty="0">
                    <a:ea typeface="CMU Classical Serif" panose="02000603000000000000" pitchFamily="2" charset="0"/>
                    <a:cs typeface="CMU Classical Serif" panose="02000603000000000000" pitchFamily="2" charset="0"/>
                  </a:rPr>
                  <a:t> si rareté </a:t>
                </a:r>
                <a:r>
                  <a:rPr lang="fr-FR" dirty="0" err="1">
                    <a:ea typeface="CMU Classical Serif" panose="02000603000000000000" pitchFamily="2" charset="0"/>
                    <a:cs typeface="CMU Classical Serif" panose="02000603000000000000" pitchFamily="2" charset="0"/>
                  </a:rPr>
                  <a:t>elévée</a:t>
                </a:r>
                <a:endParaRPr lang="fr-FR" sz="2400" baseline="30000" dirty="0">
                  <a:latin typeface="CMU Classical Serif" panose="02000603000000000000" pitchFamily="2" charset="0"/>
                  <a:ea typeface="CMU Classical Serif" panose="02000603000000000000" pitchFamily="2" charset="0"/>
                  <a:cs typeface="CMU Classical Serif" panose="02000603000000000000" pitchFamily="2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fr-FR" dirty="0">
                    <a:ea typeface="CMU Classical Serif" panose="02000603000000000000" pitchFamily="2" charset="0"/>
                    <a:cs typeface="CMU Classical Serif" panose="02000603000000000000" pitchFamily="2" charset="0"/>
                  </a:rPr>
                  <a:t>Similaire à une distance euclidienne mais on divise par la rareté de la modalité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fr-FR" sz="2000" baseline="30000" dirty="0">
                  <a:latin typeface="CMU Classical Serif" panose="02000603000000000000" pitchFamily="2" charset="0"/>
                  <a:ea typeface="CMU Classical Serif" panose="02000603000000000000" pitchFamily="2" charset="0"/>
                  <a:cs typeface="CMU Classical Serif" panose="02000603000000000000" pitchFamily="2" charset="0"/>
                </a:endParaRPr>
              </a:p>
            </p:txBody>
          </p:sp>
        </mc:Choice>
        <mc:Fallback>
          <p:sp>
            <p:nvSpPr>
              <p:cNvPr id="2" name="ZoneTexte 1">
                <a:extLst>
                  <a:ext uri="{FF2B5EF4-FFF2-40B4-BE49-F238E27FC236}">
                    <a16:creationId xmlns:a16="http://schemas.microsoft.com/office/drawing/2014/main" id="{F501438B-558B-893A-9573-C9351682AB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99" y="1425545"/>
                <a:ext cx="11125201" cy="3515193"/>
              </a:xfrm>
              <a:prstGeom prst="rect">
                <a:avLst/>
              </a:prstGeom>
              <a:blipFill>
                <a:blip r:embed="rId2"/>
                <a:stretch>
                  <a:fillRect l="-456"/>
                </a:stretch>
              </a:blipFill>
              <a:ln w="3175"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2AFDEC47-8D06-07E5-2713-0689E9ECCFBB}"/>
              </a:ext>
            </a:extLst>
          </p:cNvPr>
          <p:cNvSpPr/>
          <p:nvPr/>
        </p:nvSpPr>
        <p:spPr>
          <a:xfrm>
            <a:off x="317500" y="1425542"/>
            <a:ext cx="45719" cy="3682467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AA75C67-9CF3-252A-E8BE-132989CABD2A}"/>
              </a:ext>
            </a:extLst>
          </p:cNvPr>
          <p:cNvSpPr/>
          <p:nvPr/>
        </p:nvSpPr>
        <p:spPr>
          <a:xfrm>
            <a:off x="363219" y="1425545"/>
            <a:ext cx="11511281" cy="4826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80C251DB-06CA-7541-E77D-D1CDAE2E81D7}"/>
              </a:ext>
            </a:extLst>
          </p:cNvPr>
          <p:cNvSpPr txBox="1"/>
          <p:nvPr/>
        </p:nvSpPr>
        <p:spPr>
          <a:xfrm>
            <a:off x="609600" y="1466790"/>
            <a:ext cx="57556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/>
              <a:t>Le Rôle Central du Chi2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4586206-6D23-0CA4-71F9-2C238799B420}"/>
              </a:ext>
            </a:extLst>
          </p:cNvPr>
          <p:cNvSpPr/>
          <p:nvPr/>
        </p:nvSpPr>
        <p:spPr>
          <a:xfrm>
            <a:off x="317500" y="1425545"/>
            <a:ext cx="11557000" cy="3682467"/>
          </a:xfrm>
          <a:prstGeom prst="rect">
            <a:avLst/>
          </a:prstGeom>
          <a:noFill/>
          <a:ln w="31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F0EBC8EA-F886-3C98-9A30-4229A748D3DF}"/>
              </a:ext>
            </a:extLst>
          </p:cNvPr>
          <p:cNvSpPr txBox="1"/>
          <p:nvPr/>
        </p:nvSpPr>
        <p:spPr>
          <a:xfrm>
            <a:off x="623316" y="5187351"/>
            <a:ext cx="11264900" cy="1200329"/>
          </a:xfrm>
          <a:prstGeom prst="rect">
            <a:avLst/>
          </a:prstGeom>
          <a:noFill/>
          <a:ln w="3175">
            <a:noFill/>
          </a:ln>
        </p:spPr>
        <p:txBody>
          <a:bodyPr wrap="square" rtlCol="0">
            <a:spAutoFit/>
          </a:bodyPr>
          <a:lstStyle/>
          <a:p>
            <a:endParaRPr lang="fr-FR" dirty="0"/>
          </a:p>
          <a:p>
            <a:endParaRPr lang="fr-FR" dirty="0"/>
          </a:p>
          <a:p>
            <a:r>
              <a:rPr lang="fr-FR" altLang="fr-FR" dirty="0">
                <a:solidFill>
                  <a:srgbClr val="000000"/>
                </a:solidFill>
                <a:latin typeface="-webkit-standard"/>
              </a:rPr>
              <a:t>- 2 personnes ont un Chien (Banal) : Lien faible (Distance proche de 0).</a:t>
            </a:r>
          </a:p>
          <a:p>
            <a:r>
              <a:rPr lang="fr-FR" altLang="fr-FR" dirty="0">
                <a:solidFill>
                  <a:srgbClr val="000000"/>
                </a:solidFill>
                <a:latin typeface="-webkit-standard"/>
              </a:rPr>
              <a:t>- 2 personnes ont un Iguane (Rare) : Lien très fort (Poids élevé).</a:t>
            </a:r>
            <a:endParaRPr lang="fr-FR" sz="16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83C2145-CABB-CE03-E99A-A97EA2228207}"/>
              </a:ext>
            </a:extLst>
          </p:cNvPr>
          <p:cNvSpPr/>
          <p:nvPr/>
        </p:nvSpPr>
        <p:spPr>
          <a:xfrm>
            <a:off x="331216" y="5187351"/>
            <a:ext cx="45719" cy="1499142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A6144C1E-AFBC-13AF-D9EA-6B38C144C253}"/>
              </a:ext>
            </a:extLst>
          </p:cNvPr>
          <p:cNvSpPr txBox="1"/>
          <p:nvPr/>
        </p:nvSpPr>
        <p:spPr>
          <a:xfrm>
            <a:off x="623315" y="5228596"/>
            <a:ext cx="102088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/>
              <a:t>Exemple</a:t>
            </a:r>
          </a:p>
        </p:txBody>
      </p:sp>
    </p:spTree>
    <p:extLst>
      <p:ext uri="{BB962C8B-B14F-4D97-AF65-F5344CB8AC3E}">
        <p14:creationId xmlns:p14="http://schemas.microsoft.com/office/powerpoint/2010/main" val="18882584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661F79-EB0D-F627-183F-5A1B6B4BA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473C965A-1407-BEE7-BF09-D7D8973C1A35}"/>
              </a:ext>
            </a:extLst>
          </p:cNvPr>
          <p:cNvSpPr/>
          <p:nvPr/>
        </p:nvSpPr>
        <p:spPr>
          <a:xfrm>
            <a:off x="317500" y="342900"/>
            <a:ext cx="11557000" cy="762000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9F772A4B-7EE4-1F1E-5414-E2D54B65B1AA}"/>
              </a:ext>
            </a:extLst>
          </p:cNvPr>
          <p:cNvSpPr txBox="1"/>
          <p:nvPr/>
        </p:nvSpPr>
        <p:spPr>
          <a:xfrm>
            <a:off x="609600" y="462290"/>
            <a:ext cx="78409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</a:rPr>
              <a:t>Analyse en Composantes Multiples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0329B34C-8AB9-7FE1-7AB3-C9993CDFC8FE}"/>
              </a:ext>
            </a:extLst>
          </p:cNvPr>
          <p:cNvSpPr txBox="1"/>
          <p:nvPr/>
        </p:nvSpPr>
        <p:spPr>
          <a:xfrm>
            <a:off x="609599" y="1425545"/>
            <a:ext cx="11850357" cy="5068054"/>
          </a:xfrm>
          <a:prstGeom prst="rect">
            <a:avLst/>
          </a:prstGeom>
          <a:noFill/>
          <a:ln w="3175">
            <a:noFill/>
          </a:ln>
        </p:spPr>
        <p:txBody>
          <a:bodyPr wrap="square" rtlCol="0">
            <a:spAutoFit/>
          </a:bodyPr>
          <a:lstStyle/>
          <a:p>
            <a:endParaRPr lang="fr-FR" sz="2000" dirty="0"/>
          </a:p>
          <a:p>
            <a:endParaRPr lang="fr-FR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dirty="0"/>
              <a:t>Les résultats vus pour l’ACP sont similaires ici 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dirty="0">
                <a:ea typeface="CMU Classical Serif" panose="02000603000000000000" pitchFamily="2" charset="0"/>
                <a:cs typeface="CMU Classical Serif" panose="02000603000000000000" pitchFamily="2" charset="0"/>
              </a:rPr>
              <a:t>Valeurs Propres : Elles représentent l'inertie portée par chaque axe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b="1" dirty="0"/>
              <a:t>Critère du Coude :</a:t>
            </a:r>
            <a:r>
              <a:rPr lang="fr-FR" dirty="0"/>
              <a:t> Pour choisir le nombre d'axes, on regarde le graphique des valeurs propres.</a:t>
            </a:r>
          </a:p>
          <a:p>
            <a:r>
              <a:rPr lang="fr-FR" dirty="0"/>
              <a:t> On retient les axes situés avant la "cassure" (le coude) de la courbe.</a:t>
            </a:r>
          </a:p>
          <a:p>
            <a:r>
              <a:rPr lang="fr-FR" dirty="0"/>
              <a:t>Remarque : en ACM, des taux d'inertie faibles sont normaux. Avoir 10% sur le premier axe est souvent un très bon résultat.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dirty="0"/>
              <a:t>On obtient un graphique pour représenter les individus, les variables mais aussi les modalités.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dirty="0"/>
          </a:p>
          <a:p>
            <a:r>
              <a:rPr lang="fr-FR" b="1" dirty="0">
                <a:ea typeface="CMU Classical Serif" panose="02000603000000000000" pitchFamily="2" charset="0"/>
                <a:cs typeface="CMU Classical Serif" panose="02000603000000000000" pitchFamily="2" charset="0"/>
              </a:rPr>
              <a:t>Concepts généraux sur la distance: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2 individus prennent les mêmes modalités : distance = 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2 individus ont en commun beaucoup de modalités : distance petite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2 individus dont l’un des 2 possède une modalité rare : distance grande pour prendre en compte </a:t>
            </a:r>
          </a:p>
          <a:p>
            <a:r>
              <a:rPr lang="fr-FR" dirty="0"/>
              <a:t>la spécificité d’un des 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2 individus ont en commun une modalité rare : distance petite pour prendre en compte leur </a:t>
            </a:r>
          </a:p>
          <a:p>
            <a:r>
              <a:rPr lang="fr-FR" dirty="0"/>
              <a:t>spécificité commune </a:t>
            </a:r>
            <a:endParaRPr lang="fr-FR" dirty="0">
              <a:ea typeface="CMU Classical Serif" panose="02000603000000000000" pitchFamily="2" charset="0"/>
              <a:cs typeface="CMU Classical Serif" panose="02000603000000000000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000" baseline="30000" dirty="0">
              <a:latin typeface="CMU Classical Serif" panose="02000603000000000000" pitchFamily="2" charset="0"/>
              <a:ea typeface="CMU Classical Serif" panose="02000603000000000000" pitchFamily="2" charset="0"/>
              <a:cs typeface="CMU Classical Serif" panose="02000603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A9DFA4E-80D5-BC35-0334-9D9BEE957D40}"/>
              </a:ext>
            </a:extLst>
          </p:cNvPr>
          <p:cNvSpPr/>
          <p:nvPr/>
        </p:nvSpPr>
        <p:spPr>
          <a:xfrm>
            <a:off x="317500" y="1425542"/>
            <a:ext cx="45719" cy="4864723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C6E5404-1FF2-D416-1361-E3DAF695EDA0}"/>
              </a:ext>
            </a:extLst>
          </p:cNvPr>
          <p:cNvSpPr/>
          <p:nvPr/>
        </p:nvSpPr>
        <p:spPr>
          <a:xfrm>
            <a:off x="363219" y="1425545"/>
            <a:ext cx="11511281" cy="4826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CF6D0C6B-4DDB-232B-AA76-E9C70194A152}"/>
              </a:ext>
            </a:extLst>
          </p:cNvPr>
          <p:cNvSpPr txBox="1"/>
          <p:nvPr/>
        </p:nvSpPr>
        <p:spPr>
          <a:xfrm>
            <a:off x="609599" y="1466790"/>
            <a:ext cx="713215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/>
              <a:t>L'ACM est une ACP sur le nouveau tableau des modalités</a:t>
            </a:r>
          </a:p>
          <a:p>
            <a:endParaRPr lang="fr-FR" sz="20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8D8C084-34B7-BE79-2EB6-ADDC5384E2F1}"/>
              </a:ext>
            </a:extLst>
          </p:cNvPr>
          <p:cNvSpPr/>
          <p:nvPr/>
        </p:nvSpPr>
        <p:spPr>
          <a:xfrm>
            <a:off x="317500" y="1425545"/>
            <a:ext cx="11557000" cy="4864723"/>
          </a:xfrm>
          <a:prstGeom prst="rect">
            <a:avLst/>
          </a:prstGeom>
          <a:noFill/>
          <a:ln w="31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06708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5364F-3B83-76B6-8371-E570A2F1E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E01BA027-8885-17D1-11F4-9DBEDBE959E6}"/>
              </a:ext>
            </a:extLst>
          </p:cNvPr>
          <p:cNvSpPr/>
          <p:nvPr/>
        </p:nvSpPr>
        <p:spPr>
          <a:xfrm>
            <a:off x="317500" y="342900"/>
            <a:ext cx="11557000" cy="762000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B660ABCA-38FA-8DC7-A9CD-B1285223D158}"/>
              </a:ext>
            </a:extLst>
          </p:cNvPr>
          <p:cNvSpPr txBox="1"/>
          <p:nvPr/>
        </p:nvSpPr>
        <p:spPr>
          <a:xfrm>
            <a:off x="609600" y="462290"/>
            <a:ext cx="78409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</a:rPr>
              <a:t>Analyse en Composantes Multiples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829956AC-6B29-CF20-B845-EED3A91E28F0}"/>
              </a:ext>
            </a:extLst>
          </p:cNvPr>
          <p:cNvSpPr txBox="1"/>
          <p:nvPr/>
        </p:nvSpPr>
        <p:spPr>
          <a:xfrm>
            <a:off x="609599" y="1425545"/>
            <a:ext cx="11850357" cy="913070"/>
          </a:xfrm>
          <a:prstGeom prst="rect">
            <a:avLst/>
          </a:prstGeom>
          <a:noFill/>
          <a:ln w="3175">
            <a:noFill/>
          </a:ln>
        </p:spPr>
        <p:txBody>
          <a:bodyPr wrap="square" rtlCol="0">
            <a:spAutoFit/>
          </a:bodyPr>
          <a:lstStyle/>
          <a:p>
            <a:endParaRPr lang="fr-FR" sz="2000" dirty="0"/>
          </a:p>
          <a:p>
            <a:endParaRPr lang="fr-FR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000" baseline="30000" dirty="0">
              <a:latin typeface="CMU Classical Serif" panose="02000603000000000000" pitchFamily="2" charset="0"/>
              <a:ea typeface="CMU Classical Serif" panose="02000603000000000000" pitchFamily="2" charset="0"/>
              <a:cs typeface="CMU Classical Serif" panose="02000603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A956731-5056-1D1B-1DFA-849CE32F49E7}"/>
              </a:ext>
            </a:extLst>
          </p:cNvPr>
          <p:cNvSpPr/>
          <p:nvPr/>
        </p:nvSpPr>
        <p:spPr>
          <a:xfrm>
            <a:off x="317500" y="1425542"/>
            <a:ext cx="45719" cy="4864723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D47C4D0-222C-207C-981B-BF9161478083}"/>
              </a:ext>
            </a:extLst>
          </p:cNvPr>
          <p:cNvSpPr/>
          <p:nvPr/>
        </p:nvSpPr>
        <p:spPr>
          <a:xfrm>
            <a:off x="363219" y="1425545"/>
            <a:ext cx="11511281" cy="4826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944F2C6D-B518-B3D3-7C95-4C08E8660098}"/>
              </a:ext>
            </a:extLst>
          </p:cNvPr>
          <p:cNvSpPr txBox="1"/>
          <p:nvPr/>
        </p:nvSpPr>
        <p:spPr>
          <a:xfrm>
            <a:off x="609599" y="1466790"/>
            <a:ext cx="7132153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Représentation des variables pour interpréter les dimensions</a:t>
            </a:r>
          </a:p>
          <a:p>
            <a:endParaRPr lang="fr-FR" sz="20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FBCE1CD-11A6-D2E0-1FCA-BFD12285F79F}"/>
              </a:ext>
            </a:extLst>
          </p:cNvPr>
          <p:cNvSpPr/>
          <p:nvPr/>
        </p:nvSpPr>
        <p:spPr>
          <a:xfrm>
            <a:off x="317500" y="1425545"/>
            <a:ext cx="11557000" cy="4864723"/>
          </a:xfrm>
          <a:prstGeom prst="rect">
            <a:avLst/>
          </a:prstGeom>
          <a:noFill/>
          <a:ln w="31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4CA3C823-1A6B-5BE5-E01F-C68510A7F0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0327" y="2035455"/>
            <a:ext cx="4826000" cy="4127500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4D96ADF9-1B3F-500D-09C1-C34BB356450A}"/>
              </a:ext>
            </a:extLst>
          </p:cNvPr>
          <p:cNvSpPr txBox="1"/>
          <p:nvPr/>
        </p:nvSpPr>
        <p:spPr>
          <a:xfrm>
            <a:off x="562177" y="2143898"/>
            <a:ext cx="6229978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i="0" u="none" strike="noStrike" dirty="0">
                <a:solidFill>
                  <a:srgbClr val="BE123C"/>
                </a:solidFill>
                <a:effectLst/>
              </a:rPr>
              <a:t>Différence majeure :</a:t>
            </a:r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 En ACM, les variables (modalités) sont des </a:t>
            </a:r>
            <a:r>
              <a:rPr lang="fr-FR" b="1" i="0" u="none" strike="noStrike" dirty="0">
                <a:solidFill>
                  <a:srgbClr val="BE123C"/>
                </a:solidFill>
                <a:effectLst/>
              </a:rPr>
              <a:t>points</a:t>
            </a:r>
            <a:r>
              <a:rPr lang="fr-FR" b="0" i="0" u="none" strike="noStrike" dirty="0">
                <a:solidFill>
                  <a:srgbClr val="000000"/>
                </a:solidFill>
                <a:effectLst/>
              </a:rPr>
              <a:t>, pas des FLÈCHES. Il n'y a pas de cercle des corrélations.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>
              <a:solidFill>
                <a:srgbClr val="0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000000"/>
                </a:solidFill>
              </a:rPr>
              <a:t>Proximité = Association : Ici, "Jeune" est proche de "Étudiant". Ces deux modalités vont souvent ensemble.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/>
              <a:t>Éloignement :</a:t>
            </a:r>
            <a:r>
              <a:rPr lang="fr-FR" dirty="0"/>
              <a:t> Les points au centre (gris) sont banals. Les points éloignés sont discriminants.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>
              <a:solidFill>
                <a:srgbClr val="000000"/>
              </a:solidFill>
            </a:endParaRPr>
          </a:p>
          <a:p>
            <a:r>
              <a:rPr lang="fr-FR" b="1" dirty="0">
                <a:solidFill>
                  <a:srgbClr val="000000"/>
                </a:solidFill>
              </a:rPr>
              <a:t>Méthode d’Interprétation: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000000"/>
                </a:solidFill>
              </a:rPr>
              <a:t>Prends l'Axe 1 (Horizontal).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000000"/>
                </a:solidFill>
              </a:rPr>
              <a:t>Regarde qui est tout à gauche vs tout à droite.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000000"/>
                </a:solidFill>
              </a:rPr>
              <a:t>Trouve le thème qui crée cette opposition (ex: Riche vs Pauvre, Urbain vs Rural, Moderne vs Traditionnel).</a:t>
            </a:r>
          </a:p>
        </p:txBody>
      </p:sp>
    </p:spTree>
    <p:extLst>
      <p:ext uri="{BB962C8B-B14F-4D97-AF65-F5344CB8AC3E}">
        <p14:creationId xmlns:p14="http://schemas.microsoft.com/office/powerpoint/2010/main" val="26742222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AD8E89-49BD-5750-E0E4-CBA5D334C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6639DDCB-2DB9-0A84-18EE-2777507BCE96}"/>
              </a:ext>
            </a:extLst>
          </p:cNvPr>
          <p:cNvSpPr/>
          <p:nvPr/>
        </p:nvSpPr>
        <p:spPr>
          <a:xfrm>
            <a:off x="317500" y="342900"/>
            <a:ext cx="11557000" cy="762000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59E7838D-988B-B5F3-A6F9-C226903225C0}"/>
              </a:ext>
            </a:extLst>
          </p:cNvPr>
          <p:cNvSpPr txBox="1"/>
          <p:nvPr/>
        </p:nvSpPr>
        <p:spPr>
          <a:xfrm>
            <a:off x="609600" y="462290"/>
            <a:ext cx="78409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</a:rPr>
              <a:t>Analyse en Composantes Multiples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C37331B5-DE0D-A0AE-BCAC-C82D3CE1A20C}"/>
              </a:ext>
            </a:extLst>
          </p:cNvPr>
          <p:cNvSpPr txBox="1"/>
          <p:nvPr/>
        </p:nvSpPr>
        <p:spPr>
          <a:xfrm>
            <a:off x="609599" y="1425545"/>
            <a:ext cx="11850357" cy="913070"/>
          </a:xfrm>
          <a:prstGeom prst="rect">
            <a:avLst/>
          </a:prstGeom>
          <a:noFill/>
          <a:ln w="3175">
            <a:noFill/>
          </a:ln>
        </p:spPr>
        <p:txBody>
          <a:bodyPr wrap="square" rtlCol="0">
            <a:spAutoFit/>
          </a:bodyPr>
          <a:lstStyle/>
          <a:p>
            <a:endParaRPr lang="fr-FR" sz="2000" dirty="0"/>
          </a:p>
          <a:p>
            <a:endParaRPr lang="fr-FR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000" baseline="30000" dirty="0">
              <a:latin typeface="CMU Classical Serif" panose="02000603000000000000" pitchFamily="2" charset="0"/>
              <a:ea typeface="CMU Classical Serif" panose="02000603000000000000" pitchFamily="2" charset="0"/>
              <a:cs typeface="CMU Classical Serif" panose="02000603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FECA8D-A0CE-3584-D36A-D58DD80DC386}"/>
              </a:ext>
            </a:extLst>
          </p:cNvPr>
          <p:cNvSpPr/>
          <p:nvPr/>
        </p:nvSpPr>
        <p:spPr>
          <a:xfrm>
            <a:off x="317500" y="1425542"/>
            <a:ext cx="45719" cy="4864723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38F7F55-2382-9112-A9CD-25156C789CCA}"/>
              </a:ext>
            </a:extLst>
          </p:cNvPr>
          <p:cNvSpPr/>
          <p:nvPr/>
        </p:nvSpPr>
        <p:spPr>
          <a:xfrm>
            <a:off x="363219" y="1425545"/>
            <a:ext cx="11511281" cy="4826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9DCFF3E-982B-AA3C-B185-89B0DA15A0FC}"/>
              </a:ext>
            </a:extLst>
          </p:cNvPr>
          <p:cNvSpPr txBox="1"/>
          <p:nvPr/>
        </p:nvSpPr>
        <p:spPr>
          <a:xfrm>
            <a:off x="609599" y="1466790"/>
            <a:ext cx="7132153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Représentation des individus</a:t>
            </a:r>
          </a:p>
          <a:p>
            <a:endParaRPr lang="fr-FR" sz="20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59A2098-2E83-C4B9-E52C-275DB15151B1}"/>
              </a:ext>
            </a:extLst>
          </p:cNvPr>
          <p:cNvSpPr/>
          <p:nvPr/>
        </p:nvSpPr>
        <p:spPr>
          <a:xfrm>
            <a:off x="317500" y="1425545"/>
            <a:ext cx="11557000" cy="4864723"/>
          </a:xfrm>
          <a:prstGeom prst="rect">
            <a:avLst/>
          </a:prstGeom>
          <a:noFill/>
          <a:ln w="31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60BCE580-2C32-9F63-FA80-8D421E543441}"/>
              </a:ext>
            </a:extLst>
          </p:cNvPr>
          <p:cNvSpPr txBox="1"/>
          <p:nvPr/>
        </p:nvSpPr>
        <p:spPr>
          <a:xfrm>
            <a:off x="421614" y="3105834"/>
            <a:ext cx="622997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i="0" u="none" strike="noStrike" dirty="0">
                <a:effectLst/>
              </a:rPr>
              <a:t>Les points proches se ressemblent.</a:t>
            </a:r>
            <a:endParaRPr lang="fr-FR" dirty="0">
              <a:solidFill>
                <a:srgbClr val="0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000000"/>
                </a:solidFill>
              </a:rPr>
              <a:t>On peut identifier des clusters ou des familles d’individus.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000000"/>
                </a:solidFill>
              </a:rPr>
              <a:t>Les points isolés sont des points atypiques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000000"/>
                </a:solidFill>
              </a:rPr>
              <a:t>On peut observer des points sous forme de trajectoire : effet </a:t>
            </a:r>
            <a:r>
              <a:rPr lang="fr-FR" dirty="0" err="1">
                <a:solidFill>
                  <a:srgbClr val="000000"/>
                </a:solidFill>
              </a:rPr>
              <a:t>Guttman</a:t>
            </a:r>
            <a:r>
              <a:rPr lang="fr-FR" dirty="0">
                <a:solidFill>
                  <a:srgbClr val="000000"/>
                </a:solidFill>
              </a:rPr>
              <a:t>.</a:t>
            </a:r>
          </a:p>
          <a:p>
            <a:endParaRPr lang="fr-FR" dirty="0"/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A4E3C6E8-9B9A-6405-9E0E-8B108B5A51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1113" y="2143898"/>
            <a:ext cx="4543866" cy="3812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48971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12325</TotalTime>
  <Words>688</Words>
  <Application>Microsoft Macintosh PowerPoint</Application>
  <PresentationFormat>Grand écran</PresentationFormat>
  <Paragraphs>94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5" baseType="lpstr">
      <vt:lpstr>-webkit-standard</vt:lpstr>
      <vt:lpstr>Aptos</vt:lpstr>
      <vt:lpstr>Aptos Display</vt:lpstr>
      <vt:lpstr>Arial</vt:lpstr>
      <vt:lpstr>Cambria Math</vt:lpstr>
      <vt:lpstr>CMU Classical Serif</vt:lpstr>
      <vt:lpstr>Walbaum Display</vt:lpstr>
      <vt:lpstr>Thème Office</vt:lpstr>
      <vt:lpstr>Analyse de données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Guillaume BEGUEC</dc:creator>
  <cp:lastModifiedBy>Guillaume BEGUEC</cp:lastModifiedBy>
  <cp:revision>16</cp:revision>
  <dcterms:created xsi:type="dcterms:W3CDTF">2025-09-04T07:29:01Z</dcterms:created>
  <dcterms:modified xsi:type="dcterms:W3CDTF">2025-11-21T16:24:51Z</dcterms:modified>
</cp:coreProperties>
</file>